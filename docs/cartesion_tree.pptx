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Lato" panose="020F0502020204030204" pitchFamily="34" charset="0"/>
      <p:regular r:id="rId16"/>
    </p:embeddedFont>
    <p:embeddedFont>
      <p:font typeface="Open Sauce" panose="020B0604020202020204" charset="0"/>
      <p:regular r:id="rId17"/>
    </p:embeddedFont>
    <p:embeddedFont>
      <p:font typeface="Red Hat Display" panose="020B0604020202020204" charset="0"/>
      <p:regular r:id="rId18"/>
    </p:embeddedFont>
    <p:embeddedFont>
      <p:font typeface="Red Hat Display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7558E-39FA-4357-815F-1D8A32FDEE5A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F29B7-7A66-4D48-8BBD-DCB34A2BA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40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F29B7-7A66-4D48-8BBD-DCB34A2BA21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01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9465" y="2359725"/>
            <a:ext cx="11695306" cy="320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Cartesian Tree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9937" y="6109521"/>
            <a:ext cx="12160934" cy="52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"/>
              </a:lnSpc>
              <a:spcBef>
                <a:spcPct val="0"/>
              </a:spcBef>
            </a:pPr>
            <a:r>
              <a:rPr lang="en-US" sz="30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Combination of Min-Heap + In-Order Traversal</a:t>
            </a:r>
          </a:p>
        </p:txBody>
      </p:sp>
      <p:sp>
        <p:nvSpPr>
          <p:cNvPr id="5" name="Freeform 5"/>
          <p:cNvSpPr/>
          <p:nvPr/>
        </p:nvSpPr>
        <p:spPr>
          <a:xfrm rot="-1542318" flipV="1">
            <a:off x="13654428" y="80032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4255355" y="46215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2880" y="8130249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178023" y="796803"/>
            <a:ext cx="10341710" cy="8693395"/>
            <a:chOff x="0" y="0"/>
            <a:chExt cx="13788947" cy="1159119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788947" cy="11591193"/>
              <a:chOff x="0" y="0"/>
              <a:chExt cx="2723743" cy="22896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23743" cy="2289618"/>
              </a:xfrm>
              <a:custGeom>
                <a:avLst/>
                <a:gdLst/>
                <a:ahLst/>
                <a:cxnLst/>
                <a:rect l="l" t="t" r="r" b="b"/>
                <a:pathLst>
                  <a:path w="2723743" h="2289618">
                    <a:moveTo>
                      <a:pt x="14972" y="0"/>
                    </a:moveTo>
                    <a:lnTo>
                      <a:pt x="2708771" y="0"/>
                    </a:lnTo>
                    <a:cubicBezTo>
                      <a:pt x="2712741" y="0"/>
                      <a:pt x="2716549" y="1577"/>
                      <a:pt x="2719357" y="4385"/>
                    </a:cubicBezTo>
                    <a:cubicBezTo>
                      <a:pt x="2722165" y="7193"/>
                      <a:pt x="2723743" y="11001"/>
                      <a:pt x="2723743" y="14972"/>
                    </a:cubicBezTo>
                    <a:lnTo>
                      <a:pt x="2723743" y="2274646"/>
                    </a:lnTo>
                    <a:cubicBezTo>
                      <a:pt x="2723743" y="2282915"/>
                      <a:pt x="2717039" y="2289618"/>
                      <a:pt x="2708771" y="2289618"/>
                    </a:cubicBezTo>
                    <a:lnTo>
                      <a:pt x="14972" y="2289618"/>
                    </a:lnTo>
                    <a:cubicBezTo>
                      <a:pt x="6703" y="2289618"/>
                      <a:pt x="0" y="2282915"/>
                      <a:pt x="0" y="2274646"/>
                    </a:cubicBezTo>
                    <a:lnTo>
                      <a:pt x="0" y="14972"/>
                    </a:lnTo>
                    <a:cubicBezTo>
                      <a:pt x="0" y="11001"/>
                      <a:pt x="1577" y="7193"/>
                      <a:pt x="4385" y="4385"/>
                    </a:cubicBezTo>
                    <a:cubicBezTo>
                      <a:pt x="7193" y="1577"/>
                      <a:pt x="11001" y="0"/>
                      <a:pt x="1497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723743" cy="23277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68489" y="638923"/>
              <a:ext cx="9842143" cy="3877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72"/>
                </a:lnSpc>
              </a:pPr>
              <a:r>
                <a:rPr lang="en-US" sz="7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What is a Cartesian Tree?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3959" y="4766041"/>
              <a:ext cx="11924847" cy="6299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 Cartesian Tree is a binary tree derived from an array such that:</a:t>
              </a:r>
            </a:p>
            <a:p>
              <a:pPr marL="561336" lvl="1" indent="-280668" algn="l">
                <a:lnSpc>
                  <a:spcPts val="3509"/>
                </a:lnSpc>
                <a:buAutoNum type="arabicPeriod"/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Heap Property</a:t>
              </a:r>
            </a:p>
            <a:p>
              <a:pPr marL="1122671" lvl="2" indent="-374224" algn="l">
                <a:lnSpc>
                  <a:spcPts val="3509"/>
                </a:lnSpc>
                <a:buFont typeface="Arial"/>
                <a:buChar char="⚬"/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For Min Cartesian Tree: Parent ≤ Children</a:t>
              </a:r>
            </a:p>
            <a:p>
              <a:pPr marL="1122671" lvl="2" indent="-374224" algn="l">
                <a:lnSpc>
                  <a:spcPts val="3509"/>
                </a:lnSpc>
                <a:buFont typeface="Arial"/>
                <a:buChar char="⚬"/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Root contains the minimum element</a:t>
              </a:r>
            </a:p>
            <a:p>
              <a:pPr marL="561336" lvl="1" indent="-280668" algn="l">
                <a:lnSpc>
                  <a:spcPts val="3509"/>
                </a:lnSpc>
                <a:buAutoNum type="arabicPeriod"/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In-Order Traversal Property</a:t>
              </a:r>
            </a:p>
            <a:p>
              <a:pPr marL="1122671" lvl="2" indent="-374224" algn="l">
                <a:lnSpc>
                  <a:spcPts val="3509"/>
                </a:lnSpc>
                <a:buFont typeface="Arial"/>
                <a:buChar char="⚬"/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In-order traversal of the tree gives the original array</a:t>
              </a:r>
            </a:p>
            <a:p>
              <a:pPr algn="l">
                <a:lnSpc>
                  <a:spcPts val="3509"/>
                </a:lnSpc>
              </a:pPr>
              <a:r>
                <a:rPr lang="en-US" sz="2599" spc="15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It uniquely represents the array if all elements are distinct.</a:t>
              </a:r>
            </a:p>
            <a:p>
              <a:pPr marL="0" lvl="0" indent="0" algn="l">
                <a:lnSpc>
                  <a:spcPts val="2834"/>
                </a:lnSpc>
                <a:spcBef>
                  <a:spcPct val="0"/>
                </a:spcBef>
              </a:pPr>
              <a:endParaRPr lang="en-US" sz="2599" spc="155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8471356" y="-384020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01393" y="403709"/>
            <a:ext cx="8115300" cy="8614491"/>
            <a:chOff x="0" y="0"/>
            <a:chExt cx="10820400" cy="1148598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820400" cy="11485988"/>
              <a:chOff x="0" y="0"/>
              <a:chExt cx="2137363" cy="226883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37363" cy="2268837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2268837">
                    <a:moveTo>
                      <a:pt x="19080" y="0"/>
                    </a:moveTo>
                    <a:lnTo>
                      <a:pt x="2118283" y="0"/>
                    </a:lnTo>
                    <a:cubicBezTo>
                      <a:pt x="2123343" y="0"/>
                      <a:pt x="2128196" y="2010"/>
                      <a:pt x="2131775" y="5588"/>
                    </a:cubicBezTo>
                    <a:cubicBezTo>
                      <a:pt x="2135353" y="9167"/>
                      <a:pt x="2137363" y="14020"/>
                      <a:pt x="2137363" y="19080"/>
                    </a:cubicBezTo>
                    <a:lnTo>
                      <a:pt x="2137363" y="2249757"/>
                    </a:lnTo>
                    <a:cubicBezTo>
                      <a:pt x="2137363" y="2260295"/>
                      <a:pt x="2128821" y="2268837"/>
                      <a:pt x="2118283" y="2268837"/>
                    </a:cubicBezTo>
                    <a:lnTo>
                      <a:pt x="19080" y="2268837"/>
                    </a:lnTo>
                    <a:cubicBezTo>
                      <a:pt x="8542" y="2268837"/>
                      <a:pt x="0" y="2260295"/>
                      <a:pt x="0" y="2249757"/>
                    </a:cubicBezTo>
                    <a:lnTo>
                      <a:pt x="0" y="19080"/>
                    </a:lnTo>
                    <a:cubicBezTo>
                      <a:pt x="0" y="8542"/>
                      <a:pt x="8542" y="0"/>
                      <a:pt x="19080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37363" cy="23069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26809" y="673504"/>
              <a:ext cx="9366782" cy="2928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245"/>
                </a:lnSpc>
              </a:pPr>
              <a:r>
                <a:rPr lang="en-US" sz="85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Key Properties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6809" y="4428811"/>
              <a:ext cx="7860389" cy="6692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Binary Tree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Maintains heap structure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Preserves original order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Useful for range queries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Can be built in linear time O(n)</a:t>
              </a:r>
            </a:p>
            <a:p>
              <a:pPr algn="l">
                <a:lnSpc>
                  <a:spcPts val="4049"/>
                </a:lnSpc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Types: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Min Cartesian Tree</a:t>
              </a:r>
            </a:p>
            <a:p>
              <a:pPr marL="647694" lvl="1" indent="-323847" algn="l">
                <a:lnSpc>
                  <a:spcPts val="4049"/>
                </a:lnSpc>
                <a:buFont typeface="Arial"/>
                <a:buChar char="•"/>
              </a:pPr>
              <a:r>
                <a:rPr lang="en-US" sz="2999" spc="17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Max Cartesian Tree</a:t>
              </a:r>
            </a:p>
            <a:p>
              <a:pPr marL="0" lvl="0" indent="0" algn="l">
                <a:lnSpc>
                  <a:spcPts val="4049"/>
                </a:lnSpc>
                <a:spcBef>
                  <a:spcPct val="0"/>
                </a:spcBef>
              </a:pPr>
              <a:endParaRPr lang="en-US" sz="2999" spc="17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00433" y="8222333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8844239" y="32220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834441"/>
            <a:ext cx="11764302" cy="8720989"/>
            <a:chOff x="0" y="0"/>
            <a:chExt cx="15685737" cy="1162798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5685737" cy="11627985"/>
              <a:chOff x="0" y="0"/>
              <a:chExt cx="3098417" cy="229688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098417" cy="2296886"/>
              </a:xfrm>
              <a:custGeom>
                <a:avLst/>
                <a:gdLst/>
                <a:ahLst/>
                <a:cxnLst/>
                <a:rect l="l" t="t" r="r" b="b"/>
                <a:pathLst>
                  <a:path w="3098417" h="2296886">
                    <a:moveTo>
                      <a:pt x="13162" y="0"/>
                    </a:moveTo>
                    <a:lnTo>
                      <a:pt x="3085255" y="0"/>
                    </a:lnTo>
                    <a:cubicBezTo>
                      <a:pt x="3088746" y="0"/>
                      <a:pt x="3092094" y="1387"/>
                      <a:pt x="3094562" y="3855"/>
                    </a:cubicBezTo>
                    <a:cubicBezTo>
                      <a:pt x="3097030" y="6323"/>
                      <a:pt x="3098417" y="9671"/>
                      <a:pt x="3098417" y="13162"/>
                    </a:cubicBezTo>
                    <a:lnTo>
                      <a:pt x="3098417" y="2283724"/>
                    </a:lnTo>
                    <a:cubicBezTo>
                      <a:pt x="3098417" y="2287215"/>
                      <a:pt x="3097030" y="2290563"/>
                      <a:pt x="3094562" y="2293031"/>
                    </a:cubicBezTo>
                    <a:cubicBezTo>
                      <a:pt x="3092094" y="2295499"/>
                      <a:pt x="3088746" y="2296886"/>
                      <a:pt x="3085255" y="2296886"/>
                    </a:cubicBezTo>
                    <a:lnTo>
                      <a:pt x="13162" y="2296886"/>
                    </a:lnTo>
                    <a:cubicBezTo>
                      <a:pt x="9671" y="2296886"/>
                      <a:pt x="6323" y="2295499"/>
                      <a:pt x="3855" y="2293031"/>
                    </a:cubicBezTo>
                    <a:cubicBezTo>
                      <a:pt x="1387" y="2290563"/>
                      <a:pt x="0" y="2287215"/>
                      <a:pt x="0" y="2283724"/>
                    </a:cubicBezTo>
                    <a:lnTo>
                      <a:pt x="0" y="13162"/>
                    </a:lnTo>
                    <a:cubicBezTo>
                      <a:pt x="0" y="9671"/>
                      <a:pt x="1387" y="6323"/>
                      <a:pt x="3855" y="3855"/>
                    </a:cubicBezTo>
                    <a:cubicBezTo>
                      <a:pt x="6323" y="1387"/>
                      <a:pt x="9671" y="0"/>
                      <a:pt x="1316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098417" cy="2334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118852" y="1092562"/>
              <a:ext cx="11979689" cy="2765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760"/>
                </a:lnSpc>
              </a:pPr>
              <a:r>
                <a:rPr lang="en-US" sz="8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Construction Idea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6439" y="4155928"/>
              <a:ext cx="10689925" cy="612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Given array: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 = [5, 10, 40, 30, 28]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Steps:</a:t>
              </a:r>
            </a:p>
            <a:p>
              <a:pPr marL="539746" lvl="1" indent="-269873" algn="l">
                <a:lnSpc>
                  <a:spcPts val="3374"/>
                </a:lnSpc>
                <a:buAutoNum type="arabicPeriod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Smallest element becomes the root → 5</a:t>
              </a:r>
            </a:p>
            <a:p>
              <a:pPr marL="539746" lvl="1" indent="-269873" algn="l">
                <a:lnSpc>
                  <a:spcPts val="3374"/>
                </a:lnSpc>
                <a:buAutoNum type="arabicPeriod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Left subtree → elements left of 5 (none)</a:t>
              </a:r>
            </a:p>
            <a:p>
              <a:pPr marL="539746" lvl="1" indent="-269873" algn="l">
                <a:lnSpc>
                  <a:spcPts val="3374"/>
                </a:lnSpc>
                <a:buAutoNum type="arabicPeriod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Right subtree → [10, 40, 30, 28]</a:t>
              </a:r>
            </a:p>
            <a:p>
              <a:pPr marL="539746" lvl="1" indent="-269873" algn="l">
                <a:lnSpc>
                  <a:spcPts val="3374"/>
                </a:lnSpc>
                <a:buAutoNum type="arabicPeriod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Repeat recursively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➡ Final tree satisfies: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Heap order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In-order traversal = original array</a:t>
              </a:r>
            </a:p>
            <a:p>
              <a:pPr marL="0" lvl="0" indent="0" algn="l">
                <a:lnSpc>
                  <a:spcPts val="3374"/>
                </a:lnSpc>
                <a:spcBef>
                  <a:spcPct val="0"/>
                </a:spcBef>
              </a:pPr>
              <a:endParaRPr lang="en-US" sz="2499" spc="14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52387" y="967413"/>
            <a:ext cx="12783226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 &amp; Space Complexity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886757" y="4477587"/>
            <a:ext cx="20061513" cy="7962374"/>
            <a:chOff x="0" y="0"/>
            <a:chExt cx="26748685" cy="10616499"/>
          </a:xfrm>
        </p:grpSpPr>
        <p:sp>
          <p:nvSpPr>
            <p:cNvPr id="5" name="AutoShape 5"/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w="38100" cap="flat">
              <a:solidFill>
                <a:srgbClr val="F4F4E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9089229" y="0"/>
              <a:ext cx="669408" cy="66940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151764" y="0"/>
              <a:ext cx="669408" cy="669408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4053845" y="0"/>
              <a:ext cx="669408" cy="66940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9043861" y="0"/>
              <a:ext cx="669408" cy="66940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113633" y="7226636"/>
              <a:ext cx="3643816" cy="349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76436" y="1027564"/>
              <a:ext cx="7873667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Space Complexity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308475" y="2451023"/>
              <a:ext cx="6809590" cy="2213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6102" lvl="1" indent="-313051" algn="l">
                <a:lnSpc>
                  <a:spcPts val="4523"/>
                </a:lnSpc>
                <a:buFont typeface="Arial"/>
                <a:buChar char="•"/>
              </a:pPr>
              <a:r>
                <a:rPr lang="en-US" sz="2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Tree nodes: O(n)</a:t>
              </a:r>
            </a:p>
            <a:p>
              <a:pPr marL="626102" lvl="1" indent="-313051" algn="l">
                <a:lnSpc>
                  <a:spcPts val="4523"/>
                </a:lnSpc>
                <a:buFont typeface="Arial"/>
                <a:buChar char="•"/>
              </a:pPr>
              <a:r>
                <a:rPr lang="en-US" sz="2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Stack (construction): O(n)</a:t>
              </a:r>
            </a:p>
            <a:p>
              <a:pPr algn="l">
                <a:lnSpc>
                  <a:spcPts val="4523"/>
                </a:lnSpc>
              </a:pPr>
              <a:endParaRPr lang="en-US" sz="28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2999515" y="9421272"/>
              <a:ext cx="1195227" cy="1195227"/>
            </a:xfrm>
            <a:custGeom>
              <a:avLst/>
              <a:gdLst/>
              <a:ahLst/>
              <a:cxnLst/>
              <a:rect l="l" t="t" r="r" b="b"/>
              <a:pathLst>
                <a:path w="1195227" h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787223" y="6297170"/>
            <a:ext cx="5626246" cy="179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1" lvl="1" indent="-334641" algn="l">
              <a:lnSpc>
                <a:spcPts val="4835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Naive method: O(n²)</a:t>
            </a:r>
          </a:p>
          <a:p>
            <a:pPr marL="669281" lvl="1" indent="-334641" algn="l">
              <a:lnSpc>
                <a:spcPts val="4835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Stack-based method: O(n)</a:t>
            </a:r>
          </a:p>
          <a:p>
            <a:pPr algn="l">
              <a:lnSpc>
                <a:spcPts val="4835"/>
              </a:lnSpc>
            </a:pPr>
            <a:endParaRPr lang="en-US" sz="3099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69650" y="5219700"/>
            <a:ext cx="62728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Time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4636" y="525873"/>
            <a:ext cx="10284037" cy="9012643"/>
            <a:chOff x="0" y="0"/>
            <a:chExt cx="13712050" cy="1201685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3712050" cy="12016857"/>
              <a:chOff x="0" y="0"/>
              <a:chExt cx="2708553" cy="23737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08553" cy="2373700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373700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358644"/>
                    </a:lnTo>
                    <a:cubicBezTo>
                      <a:pt x="2708553" y="2362637"/>
                      <a:pt x="2706967" y="2366467"/>
                      <a:pt x="2704143" y="2369290"/>
                    </a:cubicBezTo>
                    <a:cubicBezTo>
                      <a:pt x="2701320" y="2372114"/>
                      <a:pt x="2697490" y="2373700"/>
                      <a:pt x="2693497" y="2373700"/>
                    </a:cubicBezTo>
                    <a:lnTo>
                      <a:pt x="15056" y="2373700"/>
                    </a:lnTo>
                    <a:cubicBezTo>
                      <a:pt x="6741" y="2373700"/>
                      <a:pt x="0" y="2366959"/>
                      <a:pt x="0" y="2358644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08553" cy="241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196340" y="1090306"/>
              <a:ext cx="11319371" cy="2765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760"/>
                </a:lnSpc>
              </a:pPr>
              <a:r>
                <a:rPr lang="en-US" sz="8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Why Cartesian Tree?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6340" y="4169255"/>
              <a:ext cx="10276762" cy="63169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Preserves data order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✔ Fast query processing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✔ Linear-time construction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✔ Strong theoretical guarantees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✔ Ideal for static arrays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Why better than other trees?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BST loses order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Heap loses sequence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Cartesian Tree keeps both</a:t>
              </a:r>
            </a:p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endParaRPr lang="en-US" sz="2799" spc="16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93955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42318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34887" y="544714"/>
            <a:ext cx="11782259" cy="8541968"/>
            <a:chOff x="0" y="0"/>
            <a:chExt cx="15709678" cy="1138929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5224108" cy="11389291"/>
              <a:chOff x="0" y="0"/>
              <a:chExt cx="3007231" cy="224973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007231" cy="2249737"/>
              </a:xfrm>
              <a:custGeom>
                <a:avLst/>
                <a:gdLst/>
                <a:ahLst/>
                <a:cxnLst/>
                <a:rect l="l" t="t" r="r" b="b"/>
                <a:pathLst>
                  <a:path w="3007231" h="2249737">
                    <a:moveTo>
                      <a:pt x="13561" y="0"/>
                    </a:moveTo>
                    <a:lnTo>
                      <a:pt x="2993670" y="0"/>
                    </a:lnTo>
                    <a:cubicBezTo>
                      <a:pt x="2997267" y="0"/>
                      <a:pt x="3000716" y="1429"/>
                      <a:pt x="3003259" y="3972"/>
                    </a:cubicBezTo>
                    <a:cubicBezTo>
                      <a:pt x="3005802" y="6515"/>
                      <a:pt x="3007231" y="9964"/>
                      <a:pt x="3007231" y="13561"/>
                    </a:cubicBezTo>
                    <a:lnTo>
                      <a:pt x="3007231" y="2236176"/>
                    </a:lnTo>
                    <a:cubicBezTo>
                      <a:pt x="3007231" y="2239772"/>
                      <a:pt x="3005802" y="2243222"/>
                      <a:pt x="3003259" y="2245765"/>
                    </a:cubicBezTo>
                    <a:cubicBezTo>
                      <a:pt x="3000716" y="2248308"/>
                      <a:pt x="2997267" y="2249737"/>
                      <a:pt x="2993670" y="2249737"/>
                    </a:cubicBezTo>
                    <a:lnTo>
                      <a:pt x="13561" y="2249737"/>
                    </a:lnTo>
                    <a:cubicBezTo>
                      <a:pt x="9964" y="2249737"/>
                      <a:pt x="6515" y="2248308"/>
                      <a:pt x="3972" y="2245765"/>
                    </a:cubicBezTo>
                    <a:cubicBezTo>
                      <a:pt x="1429" y="2243222"/>
                      <a:pt x="0" y="2239772"/>
                      <a:pt x="0" y="2236176"/>
                    </a:cubicBezTo>
                    <a:lnTo>
                      <a:pt x="0" y="13561"/>
                    </a:lnTo>
                    <a:cubicBezTo>
                      <a:pt x="0" y="9964"/>
                      <a:pt x="1429" y="6515"/>
                      <a:pt x="3972" y="3972"/>
                    </a:cubicBezTo>
                    <a:cubicBezTo>
                      <a:pt x="6515" y="1429"/>
                      <a:pt x="9964" y="0"/>
                      <a:pt x="13561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007231" cy="22878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4119" y="1501578"/>
              <a:ext cx="14095560" cy="1455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57"/>
                </a:lnSpc>
              </a:pPr>
              <a:r>
                <a:rPr lang="en-US" sz="81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Overview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4119" y="4265843"/>
              <a:ext cx="12752761" cy="63169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1. Range Minimum Query (RMQ)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Used to find minimum value in a subarray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Cartesian Tree + LCA solves RMQ efficiently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2. Compiler Design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Expression parsing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Syntax tree construction</a:t>
              </a:r>
            </a:p>
            <a:p>
              <a:pPr algn="l">
                <a:lnSpc>
                  <a:spcPts val="3779"/>
                </a:lnSpc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3. Data Compression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Used in suffix arrays</a:t>
              </a:r>
            </a:p>
            <a:p>
              <a:pPr marL="604515" lvl="1" indent="-302257" algn="l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Important in text indexing</a:t>
              </a:r>
            </a:p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endParaRPr lang="en-US" sz="2799" spc="16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474607"/>
            <a:ext cx="11398311" cy="10636836"/>
            <a:chOff x="0" y="0"/>
            <a:chExt cx="15197748" cy="14182448"/>
          </a:xfrm>
        </p:grpSpPr>
        <p:sp>
          <p:nvSpPr>
            <p:cNvPr id="5" name="TextBox 5"/>
            <p:cNvSpPr txBox="1"/>
            <p:nvPr/>
          </p:nvSpPr>
          <p:spPr>
            <a:xfrm>
              <a:off x="1102189" y="12955570"/>
              <a:ext cx="14095560" cy="1226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96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0958500" cy="125050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299" b="1" spc="137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Procedure BuildCartesianTree(A, n)</a:t>
              </a:r>
            </a:p>
            <a:p>
              <a:pPr algn="l">
                <a:lnSpc>
                  <a:spcPts val="3104"/>
                </a:lnSpc>
              </a:pPr>
              <a:endParaRPr lang="en-US" sz="2299" b="1" spc="137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1. Create an empty stack S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2. Set root as NULL</a:t>
              </a:r>
            </a:p>
            <a:p>
              <a:pPr algn="l">
                <a:lnSpc>
                  <a:spcPts val="3104"/>
                </a:lnSpc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3. For each element A[i] from left to right: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a. Create a new node with value A[i]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b. Set lastPopped as NULL</a:t>
              </a:r>
            </a:p>
            <a:p>
              <a:pPr algn="l">
                <a:lnSpc>
                  <a:spcPts val="3104"/>
                </a:lnSpc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c. While stack is not empty and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the value at the top of stack is greater than A[i]: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   - Remove the top node from stack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   - Store it in lastPopped</a:t>
              </a:r>
            </a:p>
            <a:p>
              <a:pPr algn="l">
                <a:lnSpc>
                  <a:spcPts val="3104"/>
                </a:lnSpc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d. If stack is not empty: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   - Make current node the right child of stack top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Else: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      - Set current node as the root of the tree</a:t>
              </a:r>
            </a:p>
            <a:p>
              <a:pPr algn="l">
                <a:lnSpc>
                  <a:spcPts val="3374"/>
                </a:lnSpc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e. Make lastPopped the left child of the current node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     f. Push the current node into the stack</a:t>
              </a:r>
            </a:p>
            <a:p>
              <a:pPr algn="l">
                <a:lnSpc>
                  <a:spcPts val="3104"/>
                </a:lnSpc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4. Return root</a:t>
              </a:r>
            </a:p>
            <a:p>
              <a:pPr algn="l">
                <a:lnSpc>
                  <a:spcPts val="3104"/>
                </a:lnSpc>
                <a:spcBef>
                  <a:spcPct val="0"/>
                </a:spcBef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627277" y="2273006"/>
            <a:ext cx="10571670" cy="794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 Pseudocode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93955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4216" y="762059"/>
            <a:ext cx="10774177" cy="2672342"/>
          </a:xfrm>
          <a:custGeom>
            <a:avLst/>
            <a:gdLst/>
            <a:ahLst/>
            <a:cxnLst/>
            <a:rect l="l" t="t" r="r" b="b"/>
            <a:pathLst>
              <a:path w="10774177" h="2672342">
                <a:moveTo>
                  <a:pt x="0" y="0"/>
                </a:moveTo>
                <a:lnTo>
                  <a:pt x="10774176" y="0"/>
                </a:lnTo>
                <a:lnTo>
                  <a:pt x="10774176" y="2672342"/>
                </a:lnTo>
                <a:lnTo>
                  <a:pt x="0" y="2672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2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630" y="4489877"/>
            <a:ext cx="9232269" cy="4974152"/>
          </a:xfrm>
          <a:custGeom>
            <a:avLst/>
            <a:gdLst/>
            <a:ahLst/>
            <a:cxnLst/>
            <a:rect l="l" t="t" r="r" b="b"/>
            <a:pathLst>
              <a:path w="9232269" h="4974152">
                <a:moveTo>
                  <a:pt x="0" y="0"/>
                </a:moveTo>
                <a:lnTo>
                  <a:pt x="9232269" y="0"/>
                </a:lnTo>
                <a:lnTo>
                  <a:pt x="9232269" y="4974152"/>
                </a:lnTo>
                <a:lnTo>
                  <a:pt x="0" y="4974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2410" b="-309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56734" y="1556435"/>
            <a:ext cx="10571670" cy="58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45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83132" y="3458304"/>
            <a:ext cx="8639907" cy="4341553"/>
          </a:xfrm>
          <a:custGeom>
            <a:avLst/>
            <a:gdLst/>
            <a:ahLst/>
            <a:cxnLst/>
            <a:rect l="l" t="t" r="r" b="b"/>
            <a:pathLst>
              <a:path w="8639907" h="4341553">
                <a:moveTo>
                  <a:pt x="0" y="0"/>
                </a:moveTo>
                <a:lnTo>
                  <a:pt x="8639906" y="0"/>
                </a:lnTo>
                <a:lnTo>
                  <a:pt x="8639906" y="4341553"/>
                </a:lnTo>
                <a:lnTo>
                  <a:pt x="0" y="4341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40042"/>
            <a:ext cx="12506317" cy="58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45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Real-Life Application of Cartesian Tree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80985"/>
            <a:ext cx="5923836" cy="39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3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Stock Crash Detection &amp; Time-Series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740834"/>
            <a:ext cx="8829887" cy="96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Problem:</a:t>
            </a:r>
          </a:p>
          <a:p>
            <a:pPr marL="395300" lvl="1" indent="-197650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Financial markets generate hourly stock price data.</a:t>
            </a:r>
          </a:p>
          <a:p>
            <a:pPr marL="395300" lvl="1" indent="-197650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We need to quickly detect the lowest price within a selected time window.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864" y="3065184"/>
            <a:ext cx="6243995" cy="161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 Using Cartesian Tree: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Construct a Min-Cartesian Tree from stock prices.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Root always stores the global minimum.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Range Minimum Query (RMQ) reduces to LCA in the tree.</a:t>
            </a:r>
          </a:p>
          <a:p>
            <a:pPr algn="l">
              <a:lnSpc>
                <a:spcPts val="2563"/>
              </a:lnSpc>
            </a:pPr>
            <a:endParaRPr lang="en-US" sz="183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2267" y="4637928"/>
            <a:ext cx="4351377" cy="161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It Helps: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Detects crash intervals instantly.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Efficient for static time-series datasets.</a:t>
            </a:r>
          </a:p>
          <a:p>
            <a:pPr marL="395301" lvl="1" indent="-197651" algn="l">
              <a:lnSpc>
                <a:spcPts val="2563"/>
              </a:lnSpc>
              <a:buFont typeface="Arial"/>
              <a:buChar char="•"/>
            </a:pPr>
            <a:r>
              <a:rPr lang="en-US" sz="18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Enables fast financial risk analysis.</a:t>
            </a:r>
          </a:p>
          <a:p>
            <a:pPr algn="l">
              <a:lnSpc>
                <a:spcPts val="2563"/>
              </a:lnSpc>
            </a:pPr>
            <a:endParaRPr lang="en-US" sz="183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35286" y="814639"/>
            <a:ext cx="8527247" cy="8657721"/>
            <a:chOff x="0" y="0"/>
            <a:chExt cx="11369662" cy="1154362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369662" cy="11543629"/>
              <a:chOff x="0" y="0"/>
              <a:chExt cx="2708553" cy="274999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08553" cy="2749996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749996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734940"/>
                    </a:lnTo>
                    <a:cubicBezTo>
                      <a:pt x="2708553" y="2738933"/>
                      <a:pt x="2706967" y="2742763"/>
                      <a:pt x="2704143" y="2745587"/>
                    </a:cubicBezTo>
                    <a:cubicBezTo>
                      <a:pt x="2701320" y="2748410"/>
                      <a:pt x="2697490" y="2749996"/>
                      <a:pt x="2693497" y="2749996"/>
                    </a:cubicBezTo>
                    <a:lnTo>
                      <a:pt x="15056" y="2749996"/>
                    </a:lnTo>
                    <a:cubicBezTo>
                      <a:pt x="11063" y="2749996"/>
                      <a:pt x="7233" y="2748410"/>
                      <a:pt x="4410" y="2745587"/>
                    </a:cubicBezTo>
                    <a:cubicBezTo>
                      <a:pt x="1586" y="2742763"/>
                      <a:pt x="0" y="2738933"/>
                      <a:pt x="0" y="2734940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08553" cy="27880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991973" y="903138"/>
              <a:ext cx="9385717" cy="2294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34"/>
                </a:lnSpc>
              </a:pPr>
              <a:r>
                <a:rPr lang="en-US" sz="6633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Limitations of Cartesian Tree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1973" y="3460051"/>
              <a:ext cx="9385717" cy="6287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1247" lvl="1" indent="-250624" algn="l">
                <a:lnSpc>
                  <a:spcPts val="3134"/>
                </a:lnSpc>
                <a:buFont typeface="Arial"/>
                <a:buChar char="•"/>
              </a:pPr>
              <a:r>
                <a:rPr lang="en-US" sz="2321" spc="13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Static Structure – Not efficient for frequent updates; requires rebuilding in O(n).</a:t>
              </a:r>
            </a:p>
            <a:p>
              <a:pPr marL="501247" lvl="1" indent="-250624" algn="l">
                <a:lnSpc>
                  <a:spcPts val="3134"/>
                </a:lnSpc>
                <a:buFont typeface="Arial"/>
                <a:buChar char="•"/>
              </a:pPr>
              <a:r>
                <a:rPr lang="en-US" sz="2321" spc="13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Skewed Tree Risk – If input array is sorted, tree height may become O(n), reducing efficiency.</a:t>
              </a:r>
            </a:p>
            <a:p>
              <a:pPr marL="501247" lvl="1" indent="-250624" algn="l">
                <a:lnSpc>
                  <a:spcPts val="3134"/>
                </a:lnSpc>
                <a:buFont typeface="Arial"/>
                <a:buChar char="•"/>
              </a:pPr>
              <a:r>
                <a:rPr lang="en-US" sz="2321" spc="13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Higher Space Usage – Requires node storage and parent pointers compared to simple array-based methods.</a:t>
              </a:r>
            </a:p>
            <a:p>
              <a:pPr marL="501247" lvl="1" indent="-250624" algn="l">
                <a:lnSpc>
                  <a:spcPts val="3134"/>
                </a:lnSpc>
                <a:buFont typeface="Arial"/>
                <a:buChar char="•"/>
              </a:pPr>
              <a:r>
                <a:rPr lang="en-US" sz="2321" spc="13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Single Priority Type – Supports either Min-Heap or Max-Heap property, not both simultaneously.</a:t>
              </a:r>
            </a:p>
            <a:p>
              <a:pPr algn="l">
                <a:lnSpc>
                  <a:spcPts val="3134"/>
                </a:lnSpc>
                <a:spcBef>
                  <a:spcPct val="0"/>
                </a:spcBef>
              </a:pPr>
              <a:endParaRPr lang="en-US" sz="2321" spc="1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93955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42318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250F-DE97-0765-A963-C0908CD3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589012-72F9-5023-3BCF-64C8118D01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10CC63B-362E-82E6-9367-18F3A1B740AE}"/>
              </a:ext>
            </a:extLst>
          </p:cNvPr>
          <p:cNvSpPr/>
          <p:nvPr/>
        </p:nvSpPr>
        <p:spPr>
          <a:xfrm rot="-1542318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5A8C55C-1413-6C44-2DD7-9B46D667EC2B}"/>
              </a:ext>
            </a:extLst>
          </p:cNvPr>
          <p:cNvGraphicFramePr>
            <a:graphicFrameLocks noGrp="1"/>
          </p:cNvGraphicFramePr>
          <p:nvPr/>
        </p:nvGraphicFramePr>
        <p:xfrm>
          <a:off x="1002890" y="1253613"/>
          <a:ext cx="8745794" cy="6666271"/>
        </p:xfrm>
        <a:graphic>
          <a:graphicData uri="http://schemas.openxmlformats.org/drawingml/2006/table">
            <a:tbl>
              <a:tblPr/>
              <a:tblGrid>
                <a:gridCol w="8745794">
                  <a:extLst>
                    <a:ext uri="{9D8B030D-6E8A-4147-A177-3AD203B41FA5}">
                      <a16:colId xmlns:a16="http://schemas.microsoft.com/office/drawing/2014/main" val="656328954"/>
                    </a:ext>
                  </a:extLst>
                </a:gridCol>
              </a:tblGrid>
              <a:tr h="66662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9129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75E5C2-5375-2A5B-2F55-E052A1CBA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77172"/>
              </p:ext>
            </p:extLst>
          </p:nvPr>
        </p:nvGraphicFramePr>
        <p:xfrm>
          <a:off x="685800" y="1068643"/>
          <a:ext cx="10591800" cy="6969064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5295900">
                  <a:extLst>
                    <a:ext uri="{9D8B030D-6E8A-4147-A177-3AD203B41FA5}">
                      <a16:colId xmlns:a16="http://schemas.microsoft.com/office/drawing/2014/main" val="1328630035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660562424"/>
                    </a:ext>
                  </a:extLst>
                </a:gridCol>
              </a:tblGrid>
              <a:tr h="1140317">
                <a:tc>
                  <a:txBody>
                    <a:bodyPr/>
                    <a:lstStyle/>
                    <a:p>
                      <a:r>
                        <a:rPr lang="en-IN" sz="5400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5400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840489"/>
                  </a:ext>
                </a:extLst>
              </a:tr>
              <a:tr h="1258140">
                <a:tc>
                  <a:txBody>
                    <a:bodyPr/>
                    <a:lstStyle/>
                    <a:p>
                      <a:r>
                        <a:rPr lang="en-US" sz="3200" spc="167" dirty="0">
                          <a:solidFill>
                            <a:srgbClr val="FFFFFF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CB.SC.U4CYS24043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Cartesian Tree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748671"/>
                  </a:ext>
                </a:extLst>
              </a:tr>
              <a:tr h="1149656">
                <a:tc>
                  <a:txBody>
                    <a:bodyPr/>
                    <a:lstStyle/>
                    <a:p>
                      <a:r>
                        <a:rPr lang="en-US" sz="3200" spc="167" dirty="0">
                          <a:solidFill>
                            <a:srgbClr val="FFFFFF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CB.SC.U4CYS24044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Live Demo &amp; Code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402145"/>
                  </a:ext>
                </a:extLst>
              </a:tr>
              <a:tr h="1140317">
                <a:tc>
                  <a:txBody>
                    <a:bodyPr/>
                    <a:lstStyle/>
                    <a:p>
                      <a:r>
                        <a:rPr lang="en-US" sz="3200" spc="167" dirty="0">
                          <a:solidFill>
                            <a:srgbClr val="FFFFFF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CB.SC.U4CYS24045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Algorithm Design &amp; Pseudocode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47069"/>
                  </a:ext>
                </a:extLst>
              </a:tr>
              <a:tr h="1140317">
                <a:tc>
                  <a:txBody>
                    <a:bodyPr/>
                    <a:lstStyle/>
                    <a:p>
                      <a:r>
                        <a:rPr lang="en-US" sz="3200" spc="167" dirty="0">
                          <a:solidFill>
                            <a:srgbClr val="FFFFFF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CB.SC.U4CYS24046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Complexity Analysis &amp; Theoretical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592725"/>
                  </a:ext>
                </a:extLst>
              </a:tr>
              <a:tr h="1140317">
                <a:tc>
                  <a:txBody>
                    <a:bodyPr/>
                    <a:lstStyle/>
                    <a:p>
                      <a:r>
                        <a:rPr lang="en-US" sz="3200" spc="167" dirty="0">
                          <a:solidFill>
                            <a:srgbClr val="FFFFFF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CB.SC.U4CYS24047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PPT Design, Diagrams &amp; Real-Life Application Research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6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04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660</Words>
  <Application>Microsoft Office PowerPoint</Application>
  <PresentationFormat>Custom</PresentationFormat>
  <Paragraphs>113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Archivo Black</vt:lpstr>
      <vt:lpstr>Open Sauce</vt:lpstr>
      <vt:lpstr>Lato</vt:lpstr>
      <vt:lpstr>Red Hat Display Bold</vt:lpstr>
      <vt:lpstr>Red Hat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Blue and White Project Presentation</dc:title>
  <dc:creator>mukesh nunna</dc:creator>
  <cp:lastModifiedBy>Ramadurgam Pradyumna</cp:lastModifiedBy>
  <cp:revision>3</cp:revision>
  <dcterms:created xsi:type="dcterms:W3CDTF">2006-08-16T00:00:00Z</dcterms:created>
  <dcterms:modified xsi:type="dcterms:W3CDTF">2026-07-26T08:19:12Z</dcterms:modified>
  <dc:identifier>DAHA6RimXGE</dc:identifier>
</cp:coreProperties>
</file>